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415" r:id="rId2"/>
    <p:sldId id="425" r:id="rId3"/>
    <p:sldId id="485" r:id="rId4"/>
    <p:sldId id="433" r:id="rId5"/>
    <p:sldId id="427" r:id="rId6"/>
    <p:sldId id="428" r:id="rId7"/>
    <p:sldId id="432" r:id="rId8"/>
    <p:sldId id="429" r:id="rId9"/>
    <p:sldId id="486" r:id="rId10"/>
    <p:sldId id="443" r:id="rId11"/>
    <p:sldId id="474" r:id="rId12"/>
    <p:sldId id="477" r:id="rId13"/>
    <p:sldId id="487" r:id="rId14"/>
    <p:sldId id="482" r:id="rId15"/>
    <p:sldId id="476" r:id="rId16"/>
    <p:sldId id="475" r:id="rId17"/>
    <p:sldId id="480" r:id="rId18"/>
    <p:sldId id="479" r:id="rId19"/>
    <p:sldId id="484" r:id="rId20"/>
    <p:sldId id="481" r:id="rId21"/>
    <p:sldId id="4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700"/>
  </p:normalViewPr>
  <p:slideViewPr>
    <p:cSldViewPr snapToGrid="0">
      <p:cViewPr varScale="1">
        <p:scale>
          <a:sx n="118" d="100"/>
          <a:sy n="118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915-5044-3848-8BC0-960D627265F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4069D-C8EA-1446-9983-F944A418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62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1834-78FC-4356-8065-64765F959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A5857-D8F0-45B4-AB83-DD37C21C7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5E81C-9D52-47C0-B599-D3EAA95D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A7569-3388-435D-A384-0E38A369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1B475-C3E1-42A0-B46A-0A090D951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5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3141-D9C6-4858-A825-A4CF48139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5834D-9B0C-4D0D-9009-49B6FE485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A35B5-D8BA-4E0D-A04B-2C29A145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2CD98-419F-48C9-8065-1F7BA007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80632-99B1-40C0-AF97-18E7F78A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25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B860-D9CA-420A-BA5B-E7479CAF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111BA-7C99-4F0D-B55A-53FC34329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A7D06-7A46-4603-9B10-2F3DA033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E22AB-A2DF-4FE0-9266-E5AAE6E3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94F28-A4F6-49C9-B853-DE916AB44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08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E6B9-B2AB-41C7-A9C5-D1083ECF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C6029-686E-4642-906B-87BA7E623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E040E-0AA2-465D-A8DE-F8DF89575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D8973-987F-4731-B1F0-1E1EA952F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3A76D-A106-408D-BAA0-5963DB41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2EC02-CA9B-41F4-AACA-763C1DF8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10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B4206-D658-4EB4-B409-A4CF30D7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A074A-E786-41DE-BC51-ECE475BE1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4AAD2-73D4-43E8-B78E-EA7ADCA6C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FEC4B-AD23-41FA-AEF1-2D497B3CB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AD6EB7-1009-40FF-B576-AE1C0DCE2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692DE-3660-4AFC-9B1B-5D9B9499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9F2F90-4AB8-48A4-AD96-64AE5C06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D4248-896E-4893-B700-A0FC5D32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DF6E-F753-4C44-9E3B-C02008D9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D3A7EC-D061-48DE-92F9-B26D3199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5491C-1BC4-4648-9470-CBC59E47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F41C9-8AD9-44AF-B7CF-A801AFCB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3E1B9-296E-4DAD-B2D4-6CF9806F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D3D310-096C-4C56-BC29-4DC5FB5C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0FFE6-8FF9-413D-BB2E-26A77BA1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02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D698-8693-4E57-89FF-85442117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17A4C-6613-4519-A672-65B5CE04F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D7545-E4BB-4443-867A-AC96FD767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3683F-4ACB-4053-A038-F312869A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BC16E-83B4-4E3D-91DC-AC953D86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8DBDC-B83C-4A9D-B1AB-5EA7CB68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5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2BAB-17E1-476E-8CFB-08801E988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2D077C-6814-451E-AB3A-C7D780C98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36652-63DA-4357-ABC5-3339FCBD7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85623-542E-48E4-AE53-29E1BDC7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FA44B-84D5-4DED-B3DB-872C27A9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922C2-0A6F-48F9-8C0F-AD25806D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7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090F-0612-4779-98D9-E86BCBEC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0355C-090F-40B8-827C-407A0766C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E3DC6-F278-4A22-B8CB-01784AFC3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FFDCF-2358-41DC-A495-A7F0AC54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A746C-D555-4CE1-B442-0AED5EBE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846653-BCDD-410A-8898-5F0D9DD23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1E290-A5B3-43B1-9741-8ACBA2755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7D5E9-570B-499C-BA40-4E1BCCDA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DBF80-0209-4D37-8007-7CF03123F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009A4-DB1A-4BA1-8E7F-DF5394B7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4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21891-4786-42E1-B69B-CE9453C4C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45A4F-CFDD-4954-93F9-CB76C787F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8EB76-9AEF-4509-ACED-6FE54F60C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D8A1D-6DD6-4496-9E45-D4B3FF0AE09C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2180-413E-4596-931E-C8D8673FB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D397D-D641-44E9-9590-A4A4BE3AD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CEBB3-D3DB-4338-BFEA-549483A19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3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C4C6483-2C01-C04A-1E33-76DEEB822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3718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+mn-lt"/>
                <a:cs typeface="Al Nile" pitchFamily="2" charset="-78"/>
              </a:rPr>
              <a:t>Foot Fracture and Edema Classification using CNNs With MRI for Accelerated Diagnosis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8445911-98EC-216D-54C6-B43FB7951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36758"/>
            <a:ext cx="9144000" cy="16557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Presenter: Om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Dange</a:t>
            </a:r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Mentor: Dr. Jacob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Furst</a:t>
            </a:r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2CCED2-638A-7C64-FC29-6D17B82D0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508" y="1142784"/>
            <a:ext cx="2766984" cy="96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564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Overview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042" y="1865382"/>
            <a:ext cx="649356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Develop machine learning (ML) model for precise ankle fracture and edema diagnosis.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Use Magnetic Resonance Imaging (MRI) and physician labeling for training.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Aim to minimize region of interest in physician’s diagnosis to improve accuracy, and enable timely treatment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Current result reached 89% accuracy using Convolutional Neural Network (CNN) model architecture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Picture 2" descr="A skeleton of a foot&#10;&#10;Description automatically generated">
            <a:extLst>
              <a:ext uri="{FF2B5EF4-FFF2-40B4-BE49-F238E27FC236}">
                <a16:creationId xmlns:a16="http://schemas.microsoft.com/office/drawing/2014/main" id="{61BE44E6-2BBA-0926-F36C-3D67754CA1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456" r="-2" b="21569"/>
          <a:stretch/>
        </p:blipFill>
        <p:spPr>
          <a:xfrm>
            <a:off x="305017" y="1690689"/>
            <a:ext cx="4623461" cy="4600782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6162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Specific Contributions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Developed machine learning models for diagnosing fractures and edema in MRI images for 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3-way Classification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Sequential Classification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2F76C78-066F-7459-E028-98081F62B6F0}"/>
              </a:ext>
            </a:extLst>
          </p:cNvPr>
          <p:cNvSpPr/>
          <p:nvPr/>
        </p:nvSpPr>
        <p:spPr>
          <a:xfrm>
            <a:off x="720762" y="4539727"/>
            <a:ext cx="1327417" cy="5744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3-way</a:t>
            </a:r>
          </a:p>
          <a:p>
            <a:pPr algn="ctr"/>
            <a:r>
              <a:rPr lang="en-US" dirty="0"/>
              <a:t>Classifier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D33A5B-111C-69EE-EA1E-D1A79374AC71}"/>
              </a:ext>
            </a:extLst>
          </p:cNvPr>
          <p:cNvSpPr/>
          <p:nvPr/>
        </p:nvSpPr>
        <p:spPr>
          <a:xfrm>
            <a:off x="2855004" y="3788230"/>
            <a:ext cx="1183341" cy="6003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Fracture (+ Edema)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0B733F-414E-2D27-69E7-CA0F4D773EA5}"/>
              </a:ext>
            </a:extLst>
          </p:cNvPr>
          <p:cNvSpPr/>
          <p:nvPr/>
        </p:nvSpPr>
        <p:spPr>
          <a:xfrm>
            <a:off x="2855004" y="4635445"/>
            <a:ext cx="1183341" cy="587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Edema (no fracture)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FAE9BD-A145-E675-DA1A-C33C990B1544}"/>
              </a:ext>
            </a:extLst>
          </p:cNvPr>
          <p:cNvSpPr/>
          <p:nvPr/>
        </p:nvSpPr>
        <p:spPr>
          <a:xfrm>
            <a:off x="2855004" y="5556918"/>
            <a:ext cx="1183341" cy="3872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Healthy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4E8835-84D8-0E57-0EEA-CB2ADDE27F76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2048179" y="4826944"/>
            <a:ext cx="806825" cy="102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F21E19-DADB-6A46-B9BD-A6CC26829033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2048179" y="4088400"/>
            <a:ext cx="806825" cy="738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4FE529-7FED-F2AE-D3A7-AEC5C19B4ADC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2048179" y="4826944"/>
            <a:ext cx="806825" cy="923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586822B-5B25-D101-A90E-E8EA1BA2654D}"/>
              </a:ext>
            </a:extLst>
          </p:cNvPr>
          <p:cNvSpPr/>
          <p:nvPr/>
        </p:nvSpPr>
        <p:spPr>
          <a:xfrm>
            <a:off x="5787613" y="4635445"/>
            <a:ext cx="1183341" cy="587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classifier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B7C16CF-9FF1-F274-355D-C995D29F161D}"/>
              </a:ext>
            </a:extLst>
          </p:cNvPr>
          <p:cNvSpPr/>
          <p:nvPr/>
        </p:nvSpPr>
        <p:spPr>
          <a:xfrm>
            <a:off x="7385765" y="4248170"/>
            <a:ext cx="1183341" cy="3872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Healthy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BA374CB-4CEF-4132-4E7D-4A1E62D748AB}"/>
              </a:ext>
            </a:extLst>
          </p:cNvPr>
          <p:cNvSpPr/>
          <p:nvPr/>
        </p:nvSpPr>
        <p:spPr>
          <a:xfrm>
            <a:off x="7385764" y="5121815"/>
            <a:ext cx="1183341" cy="3872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Unhealthy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6E49E4-1187-5D21-7610-8D328AB14EED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6970954" y="4441808"/>
            <a:ext cx="414811" cy="487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A36231-EF43-EDB2-9F82-6F33FF0F1EB7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6970954" y="4929247"/>
            <a:ext cx="414810" cy="386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94466C3-07A4-3BA9-5EF3-9A8372E1970C}"/>
              </a:ext>
            </a:extLst>
          </p:cNvPr>
          <p:cNvSpPr/>
          <p:nvPr/>
        </p:nvSpPr>
        <p:spPr>
          <a:xfrm>
            <a:off x="9135032" y="5021650"/>
            <a:ext cx="1183341" cy="587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Classifier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70A48E-C553-5563-EBE5-4647A8495F0C}"/>
              </a:ext>
            </a:extLst>
          </p:cNvPr>
          <p:cNvCxnSpPr>
            <a:stCxn id="24" idx="3"/>
            <a:endCxn id="31" idx="1"/>
          </p:cNvCxnSpPr>
          <p:nvPr/>
        </p:nvCxnSpPr>
        <p:spPr>
          <a:xfrm flipV="1">
            <a:off x="8569105" y="5315452"/>
            <a:ext cx="5659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491BF7-CBF6-D30B-4079-BCDD3E8F71E3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10318373" y="4959200"/>
            <a:ext cx="364196" cy="356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B3E57E1-E567-10B6-E61E-576550C5F7B3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10318373" y="5315452"/>
            <a:ext cx="369798" cy="430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452EACC-2217-457E-591D-8D3FBCF4CA1E}"/>
              </a:ext>
            </a:extLst>
          </p:cNvPr>
          <p:cNvSpPr/>
          <p:nvPr/>
        </p:nvSpPr>
        <p:spPr>
          <a:xfrm>
            <a:off x="10682569" y="4635445"/>
            <a:ext cx="1183341" cy="6003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Fracture (+ Edema)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B6825F5-3FE2-9C73-49FC-1E9F310B4873}"/>
              </a:ext>
            </a:extLst>
          </p:cNvPr>
          <p:cNvSpPr/>
          <p:nvPr/>
        </p:nvSpPr>
        <p:spPr>
          <a:xfrm>
            <a:off x="10736386" y="5452406"/>
            <a:ext cx="1183341" cy="587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Edema (no fracture)</a:t>
            </a:r>
          </a:p>
        </p:txBody>
      </p:sp>
    </p:spTree>
    <p:extLst>
      <p:ext uri="{BB962C8B-B14F-4D97-AF65-F5344CB8AC3E}">
        <p14:creationId xmlns:p14="http://schemas.microsoft.com/office/powerpoint/2010/main" val="194251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Hypothesis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Given the curated set of MRI images, can we achieve clinically relevant accuracy and sensitivity in predicting Fracture and Edema? </a:t>
            </a:r>
          </a:p>
        </p:txBody>
      </p:sp>
    </p:spTree>
    <p:extLst>
      <p:ext uri="{BB962C8B-B14F-4D97-AF65-F5344CB8AC3E}">
        <p14:creationId xmlns:p14="http://schemas.microsoft.com/office/powerpoint/2010/main" val="58710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Dataset &amp; Preprocessing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All SAGT1’s images: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Edema: 715 images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Fracture: 301 images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Healthy(non black): 439 images (with black slices: 1636)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Excluded non-informative black slices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Any pixel value that are less or equal to 10 are considered as black pixel.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And if % of black pixels &gt;= 65 % then those slices were ignored. </a:t>
            </a:r>
          </a:p>
          <a:p>
            <a:pPr marL="457200" lvl="1" indent="0">
              <a:buNone/>
            </a:pP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Intensity normalization: each input channel is normalized to have zero mean and unit variance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96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Methodology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Explored RESNET18 for Image Classification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Train-Validation Split in the ratio of 80:20 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Two different classification tasks: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 Three-class classification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 Sequential classification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10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Methodology (contd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.</a:t>
            </a: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)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Transfer Learning Approach (for sequential classification)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After Healthy and Unhealthy Classification, freezing the initial layers of the pre-trained ResNet-18 (these layers extract low-level features common across many images)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Fine-tuning the final layers of the network with our specific medical image dataset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7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3-</a:t>
            </a: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way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Classification </a:t>
            </a: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Model Architecture</a:t>
            </a:r>
            <a:endParaRPr lang="en-US" dirty="0"/>
          </a:p>
        </p:txBody>
      </p:sp>
      <p:pic>
        <p:nvPicPr>
          <p:cNvPr id="2050" name="Picture 2" descr="Understanding and visualizing ResNets | by Pablo Ruiz | Towards Data Science">
            <a:extLst>
              <a:ext uri="{FF2B5EF4-FFF2-40B4-BE49-F238E27FC236}">
                <a16:creationId xmlns:a16="http://schemas.microsoft.com/office/drawing/2014/main" id="{D52AD1AA-4480-16CC-230C-F35A4CE8F2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1754453"/>
            <a:ext cx="9067800" cy="373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AABC31A-867B-0D44-40FD-A281774ADB37}"/>
              </a:ext>
            </a:extLst>
          </p:cNvPr>
          <p:cNvSpPr/>
          <p:nvPr/>
        </p:nvSpPr>
        <p:spPr>
          <a:xfrm>
            <a:off x="10520680" y="2926080"/>
            <a:ext cx="1168400" cy="5029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E8EEB-1416-23AC-0418-F82DD655C5A2}"/>
              </a:ext>
            </a:extLst>
          </p:cNvPr>
          <p:cNvSpPr/>
          <p:nvPr/>
        </p:nvSpPr>
        <p:spPr>
          <a:xfrm>
            <a:off x="10515600" y="3624202"/>
            <a:ext cx="1168400" cy="5029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CCF7D-AE65-1CF5-4362-EB69BF4823D9}"/>
              </a:ext>
            </a:extLst>
          </p:cNvPr>
          <p:cNvSpPr/>
          <p:nvPr/>
        </p:nvSpPr>
        <p:spPr>
          <a:xfrm>
            <a:off x="10515600" y="4322324"/>
            <a:ext cx="1168400" cy="5029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Healthy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9316A03-B75D-7B05-96A1-5B5FBDD26212}"/>
              </a:ext>
            </a:extLst>
          </p:cNvPr>
          <p:cNvSpPr/>
          <p:nvPr/>
        </p:nvSpPr>
        <p:spPr>
          <a:xfrm>
            <a:off x="10190480" y="3166291"/>
            <a:ext cx="121920" cy="1407493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close-up of a foot&#10;&#10;Description automatically generated">
            <a:extLst>
              <a:ext uri="{FF2B5EF4-FFF2-40B4-BE49-F238E27FC236}">
                <a16:creationId xmlns:a16="http://schemas.microsoft.com/office/drawing/2014/main" id="{F95A383C-6740-ADA1-28CE-DE65C0CA7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51" y="3429000"/>
            <a:ext cx="907869" cy="90786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7BBB66-08A2-69AD-6D74-650EB4D4B418}"/>
              </a:ext>
            </a:extLst>
          </p:cNvPr>
          <p:cNvCxnSpPr>
            <a:cxnSpLocks/>
          </p:cNvCxnSpPr>
          <p:nvPr/>
        </p:nvCxnSpPr>
        <p:spPr>
          <a:xfrm>
            <a:off x="1036320" y="3975652"/>
            <a:ext cx="394915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92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Sequential Classification</a:t>
            </a: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 Model Architecture</a:t>
            </a:r>
            <a:endParaRPr lang="en-US" dirty="0"/>
          </a:p>
        </p:txBody>
      </p:sp>
      <p:pic>
        <p:nvPicPr>
          <p:cNvPr id="2050" name="Picture 2" descr="Understanding and visualizing ResNets | by Pablo Ruiz | Towards Data Science">
            <a:extLst>
              <a:ext uri="{FF2B5EF4-FFF2-40B4-BE49-F238E27FC236}">
                <a16:creationId xmlns:a16="http://schemas.microsoft.com/office/drawing/2014/main" id="{D52AD1AA-4480-16CC-230C-F35A4CE8F2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1478804"/>
            <a:ext cx="3535680" cy="1980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AABC31A-867B-0D44-40FD-A281774ADB37}"/>
              </a:ext>
            </a:extLst>
          </p:cNvPr>
          <p:cNvSpPr/>
          <p:nvPr/>
        </p:nvSpPr>
        <p:spPr>
          <a:xfrm>
            <a:off x="10591579" y="4404733"/>
            <a:ext cx="1168400" cy="5029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E8EEB-1416-23AC-0418-F82DD655C5A2}"/>
              </a:ext>
            </a:extLst>
          </p:cNvPr>
          <p:cNvSpPr/>
          <p:nvPr/>
        </p:nvSpPr>
        <p:spPr>
          <a:xfrm>
            <a:off x="10586499" y="5102855"/>
            <a:ext cx="1168400" cy="5029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Edema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9316A03-B75D-7B05-96A1-5B5FBDD26212}"/>
              </a:ext>
            </a:extLst>
          </p:cNvPr>
          <p:cNvSpPr/>
          <p:nvPr/>
        </p:nvSpPr>
        <p:spPr>
          <a:xfrm>
            <a:off x="4511040" y="2178577"/>
            <a:ext cx="60960" cy="819672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close-up of a foot&#10;&#10;Description automatically generated">
            <a:extLst>
              <a:ext uri="{FF2B5EF4-FFF2-40B4-BE49-F238E27FC236}">
                <a16:creationId xmlns:a16="http://schemas.microsoft.com/office/drawing/2014/main" id="{F95A383C-6740-ADA1-28CE-DE65C0CA7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" y="2259905"/>
            <a:ext cx="628292" cy="62829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7BBB66-08A2-69AD-6D74-650EB4D4B418}"/>
              </a:ext>
            </a:extLst>
          </p:cNvPr>
          <p:cNvCxnSpPr>
            <a:cxnSpLocks/>
          </p:cNvCxnSpPr>
          <p:nvPr/>
        </p:nvCxnSpPr>
        <p:spPr>
          <a:xfrm flipH="1">
            <a:off x="748520" y="2627653"/>
            <a:ext cx="414358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30301C0-7CF5-10B9-E36B-1B8AA5BCDC8B}"/>
              </a:ext>
            </a:extLst>
          </p:cNvPr>
          <p:cNvSpPr/>
          <p:nvPr/>
        </p:nvSpPr>
        <p:spPr>
          <a:xfrm>
            <a:off x="4645644" y="1966417"/>
            <a:ext cx="1168400" cy="5029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Healthy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7C4AEE-5FA1-81B2-D333-39E785B4ABC0}"/>
              </a:ext>
            </a:extLst>
          </p:cNvPr>
          <p:cNvSpPr/>
          <p:nvPr/>
        </p:nvSpPr>
        <p:spPr>
          <a:xfrm>
            <a:off x="4645644" y="2664539"/>
            <a:ext cx="1168400" cy="5029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Unhealthy</a:t>
            </a:r>
          </a:p>
        </p:txBody>
      </p:sp>
      <p:pic>
        <p:nvPicPr>
          <p:cNvPr id="19" name="Picture 2" descr="Understanding and visualizing ResNets | by Pablo Ruiz | Towards Data Science">
            <a:extLst>
              <a:ext uri="{FF2B5EF4-FFF2-40B4-BE49-F238E27FC236}">
                <a16:creationId xmlns:a16="http://schemas.microsoft.com/office/drawing/2014/main" id="{0E7C523D-C94B-E86B-CD52-AE8D339EE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938" y="3867508"/>
            <a:ext cx="4803424" cy="1980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Left Brace 19">
            <a:extLst>
              <a:ext uri="{FF2B5EF4-FFF2-40B4-BE49-F238E27FC236}">
                <a16:creationId xmlns:a16="http://schemas.microsoft.com/office/drawing/2014/main" id="{2F43B5D7-99EF-3FFE-FDE1-B55256DDEF79}"/>
              </a:ext>
            </a:extLst>
          </p:cNvPr>
          <p:cNvSpPr/>
          <p:nvPr/>
        </p:nvSpPr>
        <p:spPr>
          <a:xfrm>
            <a:off x="10365362" y="4625233"/>
            <a:ext cx="60960" cy="819672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1D5D1199-FC1B-8ED7-1369-B3620055DD05}"/>
              </a:ext>
            </a:extLst>
          </p:cNvPr>
          <p:cNvCxnSpPr>
            <a:cxnSpLocks/>
            <a:stCxn id="18" idx="2"/>
            <a:endCxn id="19" idx="1"/>
          </p:cNvCxnSpPr>
          <p:nvPr/>
        </p:nvCxnSpPr>
        <p:spPr>
          <a:xfrm rot="16200000" flipH="1">
            <a:off x="4550642" y="3846661"/>
            <a:ext cx="1690499" cy="3320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6" name="Picture 25" descr="A close-up of a foot&#10;&#10;Description automatically generated">
            <a:extLst>
              <a:ext uri="{FF2B5EF4-FFF2-40B4-BE49-F238E27FC236}">
                <a16:creationId xmlns:a16="http://schemas.microsoft.com/office/drawing/2014/main" id="{891964E4-C625-B458-023E-5DDDD80EB8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716" y="3698562"/>
            <a:ext cx="628292" cy="62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51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Fracture and Edema?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03D2A7-9CBE-1416-B4EF-B580A1426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468" y="1270004"/>
            <a:ext cx="7388226" cy="5541169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808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All fractures have edema around them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Red box: Edema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White box: Fracture</a:t>
            </a:r>
          </a:p>
          <a:p>
            <a:pPr lvl="1"/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B0FC6B-8BC8-3162-22CA-F0730FA7D835}"/>
              </a:ext>
            </a:extLst>
          </p:cNvPr>
          <p:cNvSpPr/>
          <p:nvPr/>
        </p:nvSpPr>
        <p:spPr>
          <a:xfrm>
            <a:off x="8860971" y="4001294"/>
            <a:ext cx="576943" cy="374763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4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Separating Patients in Train and Test sets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822" y="1690688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Consecutive MRI slices of a single patient	</a:t>
            </a:r>
          </a:p>
          <a:p>
            <a:pPr marL="457200" lvl="1" indent="0">
              <a:buNone/>
            </a:pP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	Image in Train set 				  Image in Test set</a:t>
            </a:r>
          </a:p>
        </p:txBody>
      </p:sp>
      <p:pic>
        <p:nvPicPr>
          <p:cNvPr id="2" name="Picture 1" descr="A close-up of a x-ray of a foot&#10;&#10;Description automatically generated">
            <a:extLst>
              <a:ext uri="{FF2B5EF4-FFF2-40B4-BE49-F238E27FC236}">
                <a16:creationId xmlns:a16="http://schemas.microsoft.com/office/drawing/2014/main" id="{20A408A8-8706-80D2-475C-3980E345C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68961"/>
            <a:ext cx="5294716" cy="3971037"/>
          </a:xfrm>
          <a:prstGeom prst="rect">
            <a:avLst/>
          </a:prstGeom>
        </p:spPr>
      </p:pic>
      <p:pic>
        <p:nvPicPr>
          <p:cNvPr id="3" name="Content Placeholder 7" descr="A close-up of a foot x-ray&#10;&#10;Description automatically generated">
            <a:extLst>
              <a:ext uri="{FF2B5EF4-FFF2-40B4-BE49-F238E27FC236}">
                <a16:creationId xmlns:a16="http://schemas.microsoft.com/office/drawing/2014/main" id="{3996832D-823A-EA12-B385-43FDEA346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36" y="2868962"/>
            <a:ext cx="5294715" cy="397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26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SAGT1 vs SAGIR pulse impulses</a:t>
            </a:r>
            <a:endParaRPr lang="en-US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1ED152B1-E466-22D9-8B39-B1E00D35D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43447" y="2252869"/>
            <a:ext cx="3829016" cy="38290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85D958-4702-E9AD-6489-B42CCDC69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95" y="2252869"/>
            <a:ext cx="3829016" cy="382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612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Healthy vs Unhealthy Classification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Pretrained ResNet18 used to classify Fracture and Edema using: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IMGNET_V1 weights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SAGIR Images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80: 20 split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224 x 224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px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Separate patients 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No augmentation 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Labels: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439 Healthy Images 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745 Unhealthy Images</a:t>
            </a:r>
          </a:p>
        </p:txBody>
      </p:sp>
    </p:spTree>
    <p:extLst>
      <p:ext uri="{BB962C8B-B14F-4D97-AF65-F5344CB8AC3E}">
        <p14:creationId xmlns:p14="http://schemas.microsoft.com/office/powerpoint/2010/main" val="1581594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532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1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st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-</a:t>
            </a: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step  Classification Results (SAGIR’s)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FD556-13B8-0DC2-972F-F23AB6840BC1}"/>
              </a:ext>
            </a:extLst>
          </p:cNvPr>
          <p:cNvSpPr txBox="1"/>
          <p:nvPr/>
        </p:nvSpPr>
        <p:spPr>
          <a:xfrm>
            <a:off x="838200" y="4680404"/>
            <a:ext cx="60883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       Metric      	      	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Sensitivity    	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 	0.9180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Roboto" panose="020F0502020204030204" pitchFamily="34" charset="0"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Specificity 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  	 	0.9350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Roboto" panose="020F0502020204030204" pitchFamily="34" charset="0"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Total Accuracy 	 	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0.9302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5EFC3D-0869-BF0D-4454-7A2E392CE7B5}"/>
              </a:ext>
            </a:extLst>
          </p:cNvPr>
          <p:cNvGraphicFramePr>
            <a:graphicFrameLocks noGrp="1"/>
          </p:cNvGraphicFramePr>
          <p:nvPr/>
        </p:nvGraphicFramePr>
        <p:xfrm>
          <a:off x="440509" y="2106137"/>
          <a:ext cx="4939876" cy="1790003"/>
        </p:xfrm>
        <a:graphic>
          <a:graphicData uri="http://schemas.openxmlformats.org/drawingml/2006/table">
            <a:tbl>
              <a:tblPr/>
              <a:tblGrid>
                <a:gridCol w="1234969">
                  <a:extLst>
                    <a:ext uri="{9D8B030D-6E8A-4147-A177-3AD203B41FA5}">
                      <a16:colId xmlns:a16="http://schemas.microsoft.com/office/drawing/2014/main" val="1794893932"/>
                    </a:ext>
                  </a:extLst>
                </a:gridCol>
                <a:gridCol w="1234969">
                  <a:extLst>
                    <a:ext uri="{9D8B030D-6E8A-4147-A177-3AD203B41FA5}">
                      <a16:colId xmlns:a16="http://schemas.microsoft.com/office/drawing/2014/main" val="3125177499"/>
                    </a:ext>
                  </a:extLst>
                </a:gridCol>
                <a:gridCol w="1234969">
                  <a:extLst>
                    <a:ext uri="{9D8B030D-6E8A-4147-A177-3AD203B41FA5}">
                      <a16:colId xmlns:a16="http://schemas.microsoft.com/office/drawing/2014/main" val="1405932144"/>
                    </a:ext>
                  </a:extLst>
                </a:gridCol>
                <a:gridCol w="1234969">
                  <a:extLst>
                    <a:ext uri="{9D8B030D-6E8A-4147-A177-3AD203B41FA5}">
                      <a16:colId xmlns:a16="http://schemas.microsoft.com/office/drawing/2014/main" val="3158449302"/>
                    </a:ext>
                  </a:extLst>
                </a:gridCol>
              </a:tblGrid>
              <a:tr h="459785">
                <a:tc rowSpan="2" gridSpan="2">
                  <a:txBody>
                    <a:bodyPr/>
                    <a:lstStyle/>
                    <a:p>
                      <a:pPr fontAlgn="t"/>
                      <a:br>
                        <a:rPr lang="en-US" dirty="0">
                          <a:effectLst/>
                        </a:rPr>
                      </a:b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Predicted Class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94216"/>
                  </a:ext>
                </a:extLst>
              </a:tr>
              <a:tr h="473824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Healthy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Unhealthy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58047"/>
                  </a:ext>
                </a:extLst>
              </a:tr>
              <a:tr h="428197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highlight>
                          <a:srgbClr val="FFFFFF"/>
                        </a:highlight>
                        <a:latin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True Class</a:t>
                      </a:r>
                      <a:endParaRPr lang="en-US" sz="20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Healthy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56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10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950535"/>
                  </a:ext>
                </a:extLst>
              </a:tr>
              <a:tr h="428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Unhealthy</a:t>
                      </a:r>
                      <a:endParaRPr lang="en-US" sz="11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5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144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855965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F25551CE-E259-15F7-A8CA-F87401D95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440" y="37826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E9217-0678-C0C5-918F-A1FBBD3EC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423" y="1534830"/>
            <a:ext cx="6443662" cy="314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14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Fracture vs Edema Classification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Pretrained ResNet18 used to classify Fracture and Edema using: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IMGNET_V1 weights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SAGIR Images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80: 20 split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224 x 224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px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Separate patients 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No augmentation 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Labels: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185 Fracture Images 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235 Edema Images</a:t>
            </a:r>
          </a:p>
        </p:txBody>
      </p:sp>
    </p:spTree>
    <p:extLst>
      <p:ext uri="{BB962C8B-B14F-4D97-AF65-F5344CB8AC3E}">
        <p14:creationId xmlns:p14="http://schemas.microsoft.com/office/powerpoint/2010/main" val="676222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532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2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nd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-</a:t>
            </a: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step Classification Results (SAGIR’s)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FD556-13B8-0DC2-972F-F23AB6840BC1}"/>
              </a:ext>
            </a:extLst>
          </p:cNvPr>
          <p:cNvSpPr txBox="1"/>
          <p:nvPr/>
        </p:nvSpPr>
        <p:spPr>
          <a:xfrm>
            <a:off x="206829" y="4563763"/>
            <a:ext cx="60883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       Metric      	      	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Sensitivity    	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0.85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       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Specificity 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  	0.9318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Total Accuracy 	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0.8929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5EFC3D-0869-BF0D-4454-7A2E392CE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60992"/>
              </p:ext>
            </p:extLst>
          </p:nvPr>
        </p:nvGraphicFramePr>
        <p:xfrm>
          <a:off x="206829" y="2106137"/>
          <a:ext cx="5347016" cy="2077392"/>
        </p:xfrm>
        <a:graphic>
          <a:graphicData uri="http://schemas.openxmlformats.org/drawingml/2006/table">
            <a:tbl>
              <a:tblPr/>
              <a:tblGrid>
                <a:gridCol w="1336754">
                  <a:extLst>
                    <a:ext uri="{9D8B030D-6E8A-4147-A177-3AD203B41FA5}">
                      <a16:colId xmlns:a16="http://schemas.microsoft.com/office/drawing/2014/main" val="1794893932"/>
                    </a:ext>
                  </a:extLst>
                </a:gridCol>
                <a:gridCol w="1336754">
                  <a:extLst>
                    <a:ext uri="{9D8B030D-6E8A-4147-A177-3AD203B41FA5}">
                      <a16:colId xmlns:a16="http://schemas.microsoft.com/office/drawing/2014/main" val="3125177499"/>
                    </a:ext>
                  </a:extLst>
                </a:gridCol>
                <a:gridCol w="1336754">
                  <a:extLst>
                    <a:ext uri="{9D8B030D-6E8A-4147-A177-3AD203B41FA5}">
                      <a16:colId xmlns:a16="http://schemas.microsoft.com/office/drawing/2014/main" val="1405932144"/>
                    </a:ext>
                  </a:extLst>
                </a:gridCol>
                <a:gridCol w="1336754">
                  <a:extLst>
                    <a:ext uri="{9D8B030D-6E8A-4147-A177-3AD203B41FA5}">
                      <a16:colId xmlns:a16="http://schemas.microsoft.com/office/drawing/2014/main" val="3158449302"/>
                    </a:ext>
                  </a:extLst>
                </a:gridCol>
              </a:tblGrid>
              <a:tr h="497702">
                <a:tc rowSpan="2" gridSpan="2">
                  <a:txBody>
                    <a:bodyPr/>
                    <a:lstStyle/>
                    <a:p>
                      <a:pPr algn="ctr" fontAlgn="t"/>
                      <a:b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</a:br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Fracture v Edema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Predicted Class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94216"/>
                  </a:ext>
                </a:extLst>
              </a:tr>
              <a:tr h="51289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Fracture(+Edema)</a:t>
                      </a:r>
                      <a:endParaRPr lang="en-US" sz="11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sz="105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58047"/>
                  </a:ext>
                </a:extLst>
              </a:tr>
              <a:tr h="533396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u="none" strike="noStrike" dirty="0">
                        <a:solidFill>
                          <a:srgbClr val="333333"/>
                        </a:solidFill>
                        <a:effectLst/>
                        <a:highlight>
                          <a:srgbClr val="FFFFFF"/>
                        </a:highlight>
                        <a:latin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True Class</a:t>
                      </a:r>
                      <a:endParaRPr lang="en-US" sz="20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Fracture(+Edema)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34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3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950535"/>
                  </a:ext>
                </a:extLst>
              </a:tr>
              <a:tr h="5333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sz="11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6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41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855965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F25551CE-E259-15F7-A8CA-F87401D95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440" y="37826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E129E-3B83-AA05-9822-2630D1D74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952" y="2106137"/>
            <a:ext cx="6309219" cy="315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08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98" y="397782"/>
            <a:ext cx="11392988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3 – way Classification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Pretrained ResNet18 used to classify Fracture and Edema using: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IMGNET_V1 weights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SAGIR Images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80: 20 split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224 x 224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px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Separate patients 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No augmentation 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Labels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sym typeface="Wingdings" pitchFamily="2" charset="2"/>
              </a:rPr>
              <a:t>(1455 total images)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301 Fracture Images 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715 Edema Images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439 Healthy Images</a:t>
            </a:r>
          </a:p>
        </p:txBody>
      </p:sp>
    </p:spTree>
    <p:extLst>
      <p:ext uri="{BB962C8B-B14F-4D97-AF65-F5344CB8AC3E}">
        <p14:creationId xmlns:p14="http://schemas.microsoft.com/office/powerpoint/2010/main" val="1800648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3-</a:t>
            </a: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way SAGIR Classification Results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8217" y="2868346"/>
            <a:ext cx="4781868" cy="4351338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FD556-13B8-0DC2-972F-F23AB6840BC1}"/>
              </a:ext>
            </a:extLst>
          </p:cNvPr>
          <p:cNvSpPr txBox="1"/>
          <p:nvPr/>
        </p:nvSpPr>
        <p:spPr>
          <a:xfrm>
            <a:off x="571915" y="4562305"/>
            <a:ext cx="60883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    </a:t>
            </a: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F0502020204030204" pitchFamily="34" charset="0"/>
              </a:rPr>
              <a:t>Metric     </a:t>
            </a: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  </a:t>
            </a:r>
            <a: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 	  </a:t>
            </a: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Fracture         Edema          Healthy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endParaRPr lang="en-US" sz="1600" b="0" i="0" u="none" strike="noStrike" dirty="0">
              <a:solidFill>
                <a:schemeClr val="accent5">
                  <a:lumMod val="50000"/>
                </a:schemeClr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Sensitivity</a:t>
            </a:r>
            <a: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    	0.5997            0.6599           0.6755       </a:t>
            </a:r>
            <a:endParaRPr lang="en-US" sz="1600" b="0" i="0" u="none" strike="noStrike" dirty="0">
              <a:solidFill>
                <a:schemeClr val="accent5">
                  <a:lumMod val="50000"/>
                </a:schemeClr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Specificity  </a:t>
            </a:r>
            <a: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  	0.6837            0.7051           0.7485       </a:t>
            </a:r>
            <a:endParaRPr lang="en-US" sz="1600" b="0" i="0" u="none" strike="noStrike" dirty="0">
              <a:solidFill>
                <a:schemeClr val="accent5">
                  <a:lumMod val="50000"/>
                </a:schemeClr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Accuracy(overall) 	</a:t>
            </a:r>
            <a: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      	      0.8787             </a:t>
            </a:r>
            <a:b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</a:rPr>
            </a:b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5EFC3D-0869-BF0D-4454-7A2E392CE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589384"/>
              </p:ext>
            </p:extLst>
          </p:nvPr>
        </p:nvGraphicFramePr>
        <p:xfrm>
          <a:off x="349069" y="1934315"/>
          <a:ext cx="5943600" cy="21056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179489393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5747859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40593214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1584493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933329058"/>
                    </a:ext>
                  </a:extLst>
                </a:gridCol>
              </a:tblGrid>
              <a:tr h="260350">
                <a:tc rowSpan="2" gridSpan="2">
                  <a:txBody>
                    <a:bodyPr/>
                    <a:lstStyle/>
                    <a:p>
                      <a:pPr fontAlgn="t"/>
                      <a:br>
                        <a:rPr lang="en-US" dirty="0">
                          <a:effectLst/>
                        </a:rPr>
                      </a:b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Predicted Class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94216"/>
                  </a:ext>
                </a:extLst>
              </a:tr>
              <a:tr h="2603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Fracture(+Edema)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Healthy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58047"/>
                  </a:ext>
                </a:extLst>
              </a:tr>
              <a:tr h="26035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dirty="0">
                          <a:effectLst/>
                        </a:rPr>
                      </a:br>
                      <a:r>
                        <a:rPr lang="en-US" sz="13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True Class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Fracture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(+Edema)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88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23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1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950535"/>
                  </a:ext>
                </a:extLst>
              </a:tr>
              <a:tr h="26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10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104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4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855965"/>
                  </a:ext>
                </a:extLst>
              </a:tr>
              <a:tr h="26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Healthy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2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5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70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704652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F25551CE-E259-15F7-A8CA-F87401D95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440" y="37826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2A29D-54F8-43B8-A536-F7AC944E2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487" y="1746122"/>
            <a:ext cx="5825926" cy="291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57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98" y="397782"/>
            <a:ext cx="11392988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3 - way Classification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Pretrained ResNet18 used to classify Fracture and Edema using: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IMGNET_V1 weights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80: 20 split</a:t>
            </a:r>
          </a:p>
          <a:p>
            <a:pPr lvl="1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90º, 180º and 270º Augmentations 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Separate patients 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Labels: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1204 Fracture Images 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2860 Edema Images</a:t>
            </a:r>
          </a:p>
          <a:p>
            <a:pPr lvl="1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1756 Healthy Images</a:t>
            </a:r>
          </a:p>
        </p:txBody>
      </p:sp>
    </p:spTree>
    <p:extLst>
      <p:ext uri="{BB962C8B-B14F-4D97-AF65-F5344CB8AC3E}">
        <p14:creationId xmlns:p14="http://schemas.microsoft.com/office/powerpoint/2010/main" val="1763260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öhne"/>
              </a:rPr>
              <a:t>3-</a:t>
            </a:r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way SAGIR Classification Results (Augmented)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A268027-EDEA-AD2B-46D1-DCC560C27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8217" y="2868346"/>
            <a:ext cx="4781868" cy="4351338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FD556-13B8-0DC2-972F-F23AB6840BC1}"/>
              </a:ext>
            </a:extLst>
          </p:cNvPr>
          <p:cNvSpPr txBox="1"/>
          <p:nvPr/>
        </p:nvSpPr>
        <p:spPr>
          <a:xfrm>
            <a:off x="571915" y="4562305"/>
            <a:ext cx="60883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Roboto" panose="020F0502020204030204" pitchFamily="34" charset="0"/>
              </a:rPr>
              <a:t>    </a:t>
            </a: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F0502020204030204" pitchFamily="34" charset="0"/>
              </a:rPr>
              <a:t>Metric     </a:t>
            </a: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  </a:t>
            </a:r>
            <a: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 	  </a:t>
            </a: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Fracture         Edema          Healthy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endParaRPr lang="en-US" sz="1600" b="0" i="0" u="none" strike="noStrike" dirty="0">
              <a:solidFill>
                <a:schemeClr val="accent5">
                  <a:lumMod val="50000"/>
                </a:schemeClr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Sensitivity</a:t>
            </a:r>
            <a: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    	0.8705            0.9004           0.9025      </a:t>
            </a:r>
            <a:endParaRPr lang="en-US" sz="1600" b="0" i="0" u="none" strike="noStrike" dirty="0">
              <a:solidFill>
                <a:schemeClr val="accent5">
                  <a:lumMod val="50000"/>
                </a:schemeClr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Specificity  </a:t>
            </a:r>
            <a: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  	0.9436            0.8966           0.9807       </a:t>
            </a:r>
            <a:endParaRPr lang="en-US" sz="1600" b="0" i="0" u="none" strike="noStrike" dirty="0">
              <a:solidFill>
                <a:schemeClr val="accent5">
                  <a:lumMod val="50000"/>
                </a:schemeClr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Accuracy 	</a:t>
            </a:r>
            <a: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      	      	      0.8900             </a:t>
            </a:r>
            <a:br>
              <a:rPr lang="en-US" sz="16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</a:rPr>
            </a:b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5EFC3D-0869-BF0D-4454-7A2E392CE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57578"/>
              </p:ext>
            </p:extLst>
          </p:nvPr>
        </p:nvGraphicFramePr>
        <p:xfrm>
          <a:off x="169455" y="2008986"/>
          <a:ext cx="5943600" cy="21056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179489393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5747859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40593214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1584493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933329058"/>
                    </a:ext>
                  </a:extLst>
                </a:gridCol>
              </a:tblGrid>
              <a:tr h="260350">
                <a:tc rowSpan="2" gridSpan="2">
                  <a:txBody>
                    <a:bodyPr/>
                    <a:lstStyle/>
                    <a:p>
                      <a:pPr fontAlgn="t"/>
                      <a:br>
                        <a:rPr lang="en-US" dirty="0">
                          <a:effectLst/>
                        </a:rPr>
                      </a:b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Predicted Class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94216"/>
                  </a:ext>
                </a:extLst>
              </a:tr>
              <a:tr h="2603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Fracture(+Edema)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Healthy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58047"/>
                  </a:ext>
                </a:extLst>
              </a:tr>
              <a:tr h="26035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dirty="0">
                          <a:effectLst/>
                        </a:rPr>
                      </a:br>
                      <a:r>
                        <a:rPr lang="en-US" sz="13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True Class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Fracture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(+Edema)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390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56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2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950535"/>
                  </a:ext>
                </a:extLst>
              </a:tr>
              <a:tr h="26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33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425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14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855965"/>
                  </a:ext>
                </a:extLst>
              </a:tr>
              <a:tr h="26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Healthy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9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21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278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704652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F25551CE-E259-15F7-A8CA-F87401D95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440" y="37826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912BD7-AC3A-44B2-E575-F7187A4C0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69" y="1690688"/>
            <a:ext cx="5872388" cy="293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2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9D972E43-C1D4-1FA5-3268-10513AAB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7869" y="46827"/>
            <a:ext cx="8839199" cy="50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4CE012D-C5B2-26AE-340D-412C5EA2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5320"/>
            <a:ext cx="10515600" cy="1325563"/>
          </a:xfrm>
        </p:spPr>
        <p:txBody>
          <a:bodyPr/>
          <a:lstStyle/>
          <a:p>
            <a:r>
              <a:rPr lang="en-US" b="0" i="0" u="none" strike="noStrike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Combining Step 1 and Step 2</a:t>
            </a:r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25551CE-E259-15F7-A8CA-F87401D95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3440" y="37826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7FC14-63AE-44B2-12C0-6E0DC131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0883"/>
            <a:ext cx="12192000" cy="142304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5B622C-B480-B0BC-18C7-A439A354D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990394"/>
              </p:ext>
            </p:extLst>
          </p:nvPr>
        </p:nvGraphicFramePr>
        <p:xfrm>
          <a:off x="5829300" y="3806996"/>
          <a:ext cx="5943600" cy="21056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179489393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5747859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40593214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1584493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933329058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algn="ctr" fontAlgn="t"/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Sequential 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Predicted Class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94216"/>
                  </a:ext>
                </a:extLst>
              </a:tr>
              <a:tr h="2603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highlight>
                            <a:srgbClr val="FFFFFF"/>
                          </a:highlight>
                        </a:rPr>
                        <a:t>Fracture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highlight>
                            <a:srgbClr val="FFFFFF"/>
                          </a:highlight>
                        </a:rPr>
                        <a:t>(+Edema)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highlight>
                            <a:srgbClr val="FFFFFF"/>
                          </a:highlight>
                        </a:rPr>
                        <a:t>Healthy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58047"/>
                  </a:ext>
                </a:extLst>
              </a:tr>
              <a:tr h="26035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dirty="0">
                          <a:effectLst/>
                        </a:rPr>
                      </a:br>
                      <a:r>
                        <a:rPr lang="en-US" sz="13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True Class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Fracture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(+Edema)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90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59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5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950535"/>
                  </a:ext>
                </a:extLst>
              </a:tr>
              <a:tr h="26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10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97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6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855965"/>
                  </a:ext>
                </a:extLst>
              </a:tr>
              <a:tr h="26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highlight>
                            <a:srgbClr val="FFFFFF"/>
                          </a:highlight>
                        </a:rPr>
                        <a:t>Healthy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3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24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144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7046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C20FA0-261A-A948-63A3-7EA81878FB84}"/>
              </a:ext>
            </a:extLst>
          </p:cNvPr>
          <p:cNvSpPr txBox="1"/>
          <p:nvPr/>
        </p:nvSpPr>
        <p:spPr>
          <a:xfrm>
            <a:off x="808374" y="6068014"/>
            <a:ext cx="476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Total Accuracy(overall) 	</a:t>
            </a:r>
            <a:r>
              <a:rPr lang="en-US" sz="18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      0.8900             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BBC3A-18E8-0035-84CC-E6BAE2AEC594}"/>
              </a:ext>
            </a:extLst>
          </p:cNvPr>
          <p:cNvSpPr txBox="1"/>
          <p:nvPr/>
        </p:nvSpPr>
        <p:spPr>
          <a:xfrm>
            <a:off x="6362702" y="5996397"/>
            <a:ext cx="906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Total Accuracy(overall) 	</a:t>
            </a:r>
            <a:r>
              <a:rPr lang="en-US" sz="1800" b="0" i="0" u="none" strike="noStrike" dirty="0">
                <a:solidFill>
                  <a:schemeClr val="accent5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      0.7557             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5A5FC2-471A-55E2-50E3-CB9C7EE80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47658"/>
              </p:ext>
            </p:extLst>
          </p:nvPr>
        </p:nvGraphicFramePr>
        <p:xfrm>
          <a:off x="80713" y="3782678"/>
          <a:ext cx="5554775" cy="2105660"/>
        </p:xfrm>
        <a:graphic>
          <a:graphicData uri="http://schemas.openxmlformats.org/drawingml/2006/table">
            <a:tbl>
              <a:tblPr/>
              <a:tblGrid>
                <a:gridCol w="1110955">
                  <a:extLst>
                    <a:ext uri="{9D8B030D-6E8A-4147-A177-3AD203B41FA5}">
                      <a16:colId xmlns:a16="http://schemas.microsoft.com/office/drawing/2014/main" val="1794893932"/>
                    </a:ext>
                  </a:extLst>
                </a:gridCol>
                <a:gridCol w="1110955">
                  <a:extLst>
                    <a:ext uri="{9D8B030D-6E8A-4147-A177-3AD203B41FA5}">
                      <a16:colId xmlns:a16="http://schemas.microsoft.com/office/drawing/2014/main" val="257478597"/>
                    </a:ext>
                  </a:extLst>
                </a:gridCol>
                <a:gridCol w="1110955">
                  <a:extLst>
                    <a:ext uri="{9D8B030D-6E8A-4147-A177-3AD203B41FA5}">
                      <a16:colId xmlns:a16="http://schemas.microsoft.com/office/drawing/2014/main" val="1405932144"/>
                    </a:ext>
                  </a:extLst>
                </a:gridCol>
                <a:gridCol w="1110955">
                  <a:extLst>
                    <a:ext uri="{9D8B030D-6E8A-4147-A177-3AD203B41FA5}">
                      <a16:colId xmlns:a16="http://schemas.microsoft.com/office/drawing/2014/main" val="3158449302"/>
                    </a:ext>
                  </a:extLst>
                </a:gridCol>
                <a:gridCol w="1110955">
                  <a:extLst>
                    <a:ext uri="{9D8B030D-6E8A-4147-A177-3AD203B41FA5}">
                      <a16:colId xmlns:a16="http://schemas.microsoft.com/office/drawing/2014/main" val="2933329058"/>
                    </a:ext>
                  </a:extLst>
                </a:gridCol>
              </a:tblGrid>
              <a:tr h="260350">
                <a:tc rowSpan="2" gridSpan="2">
                  <a:txBody>
                    <a:bodyPr/>
                    <a:lstStyle/>
                    <a:p>
                      <a:pPr algn="ctr" fontAlgn="t"/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3- way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Predicted Class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94216"/>
                  </a:ext>
                </a:extLst>
              </a:tr>
              <a:tr h="2603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Fracture(+Edema)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Healthy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58047"/>
                  </a:ext>
                </a:extLst>
              </a:tr>
              <a:tr h="26035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dirty="0">
                          <a:effectLst/>
                        </a:rPr>
                      </a:br>
                      <a:r>
                        <a:rPr lang="en-US" sz="13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True Class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Fracture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(+Edema)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390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56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2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950535"/>
                  </a:ext>
                </a:extLst>
              </a:tr>
              <a:tr h="26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Edema(No fracture)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33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425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14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855965"/>
                  </a:ext>
                </a:extLst>
              </a:tr>
              <a:tr h="260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Healthy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9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21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50" b="0" i="0" u="none" strike="noStrike" dirty="0">
                          <a:solidFill>
                            <a:srgbClr val="333333"/>
                          </a:solidFill>
                          <a:effectLst/>
                          <a:highlight>
                            <a:srgbClr val="FFFFFF"/>
                          </a:highlight>
                          <a:latin typeface="Arial" panose="020B0604020202020204" pitchFamily="34" charset="0"/>
                        </a:rPr>
                        <a:t>278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704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527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22983</TotalTime>
  <Words>865</Words>
  <Application>Microsoft Macintosh PowerPoint</Application>
  <PresentationFormat>Widescreen</PresentationFormat>
  <Paragraphs>241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Roboto</vt:lpstr>
      <vt:lpstr>Söhne</vt:lpstr>
      <vt:lpstr>Wingdings</vt:lpstr>
      <vt:lpstr>1_Office Theme</vt:lpstr>
      <vt:lpstr>Foot Fracture and Edema Classification using CNNs With MRI for Accelerated Diagnosis</vt:lpstr>
      <vt:lpstr>Overview</vt:lpstr>
      <vt:lpstr>Specific Contributions</vt:lpstr>
      <vt:lpstr>Hypothesis</vt:lpstr>
      <vt:lpstr>Dataset &amp; Preprocessing</vt:lpstr>
      <vt:lpstr>Methodology </vt:lpstr>
      <vt:lpstr>Methodology (contd.)</vt:lpstr>
      <vt:lpstr>3-way Classification Model Architecture</vt:lpstr>
      <vt:lpstr>Sequential Classification Model Architecture</vt:lpstr>
      <vt:lpstr>Fracture and Edema?</vt:lpstr>
      <vt:lpstr>Separating Patients in Train and Test sets</vt:lpstr>
      <vt:lpstr>SAGT1 vs SAGIR pulse impulses</vt:lpstr>
      <vt:lpstr>Healthy vs Unhealthy Classification</vt:lpstr>
      <vt:lpstr>1st-step  Classification Results (SAGIR’s) </vt:lpstr>
      <vt:lpstr>Fracture vs Edema Classification</vt:lpstr>
      <vt:lpstr>2nd-step Classification Results (SAGIR’s)</vt:lpstr>
      <vt:lpstr>3 – way Classification</vt:lpstr>
      <vt:lpstr>3-way SAGIR Classification Results</vt:lpstr>
      <vt:lpstr>3 - way Classification</vt:lpstr>
      <vt:lpstr>3-way SAGIR Classification Results (Augmented)</vt:lpstr>
      <vt:lpstr>Combining Step 1 and Step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 Fracture and Edema Classification using CNNs With MRI for Accelerated Diagnosis</dc:title>
  <dc:creator>Dange, Om</dc:creator>
  <cp:lastModifiedBy>Dange, Om</cp:lastModifiedBy>
  <cp:revision>8</cp:revision>
  <dcterms:created xsi:type="dcterms:W3CDTF">2024-11-01T01:41:50Z</dcterms:created>
  <dcterms:modified xsi:type="dcterms:W3CDTF">2025-09-18T20:17:12Z</dcterms:modified>
</cp:coreProperties>
</file>